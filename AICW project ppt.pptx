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charts/chart1.xml" ContentType="application/vnd.openxmlformats-officedocument.drawingml.chart+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custDataLst>
    <p:tags r:id="rId1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2" clrIdx="0">
    <p:extLst>
      <p:ext uri="{19B8F6BF-5375-455C-9EA6-DF929625EA0E}">
        <p15:presenceInfo xmlns:p15="http://schemas.microsoft.com/office/powerpoint/2012/main" userId="2c8d2e84d8c69fd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5033" autoAdjust="0"/>
  </p:normalViewPr>
  <p:slideViewPr>
    <p:cSldViewPr snapToGrid="0" snapToObjects="1">
      <p:cViewPr varScale="1">
        <p:scale>
          <a:sx n="107" d="100"/>
          <a:sy n="107" d="100"/>
        </p:scale>
        <p:origin x="533" y="101"/>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IN"/>
              <a:t>Department-wise Payroll Cost</a:t>
            </a:r>
          </a:p>
        </c:rich>
      </c:tx>
      <c:layout>
        <c:manualLayout>
          <c:xMode val="edge"/>
          <c:yMode val="edge"/>
          <c:x val="0.40562154533693989"/>
          <c:y val="2.3907103825136611E-2"/>
        </c:manualLayout>
      </c:layout>
      <c:overlay val="1"/>
    </c:title>
    <c:autoTitleDeleted val="0"/>
    <c:plotArea>
      <c:layout/>
      <c:barChart>
        <c:barDir val="col"/>
        <c:grouping val="clustered"/>
        <c:varyColors val="1"/>
        <c:ser>
          <c:idx val="0"/>
          <c:order val="0"/>
          <c:tx>
            <c:strRef>
              <c:f>Dashboard!$B$1</c:f>
              <c:strCache>
                <c:ptCount val="1"/>
                <c:pt idx="0">
                  <c:v>Total Payroll</c:v>
                </c:pt>
              </c:strCache>
            </c:strRef>
          </c:tx>
          <c:spPr>
            <a:ln>
              <a:prstDash val="solid"/>
            </a:ln>
          </c:spPr>
          <c:invertIfNegative val="1"/>
          <c:trendline>
            <c:trendlineType val="linear"/>
            <c:dispRSqr val="0"/>
            <c:dispEq val="0"/>
          </c:trendline>
          <c:cat>
            <c:strRef>
              <c:f>Dashboard!$A$2:$A$6</c:f>
              <c:strCache>
                <c:ptCount val="5"/>
                <c:pt idx="0">
                  <c:v>Operations</c:v>
                </c:pt>
                <c:pt idx="1">
                  <c:v>Finance</c:v>
                </c:pt>
                <c:pt idx="2">
                  <c:v>Sales</c:v>
                </c:pt>
                <c:pt idx="3">
                  <c:v>HR</c:v>
                </c:pt>
                <c:pt idx="4">
                  <c:v>IT</c:v>
                </c:pt>
              </c:strCache>
            </c:strRef>
          </c:cat>
          <c:val>
            <c:numRef>
              <c:f>Dashboard!$B$2:$B$6</c:f>
              <c:numCache>
                <c:formatCode>General</c:formatCode>
                <c:ptCount val="5"/>
                <c:pt idx="0">
                  <c:v>6693074</c:v>
                </c:pt>
                <c:pt idx="1">
                  <c:v>5804576</c:v>
                </c:pt>
                <c:pt idx="2">
                  <c:v>5368406</c:v>
                </c:pt>
                <c:pt idx="3">
                  <c:v>5252559</c:v>
                </c:pt>
                <c:pt idx="4">
                  <c:v>5141426</c:v>
                </c:pt>
              </c:numCache>
            </c:numRef>
          </c:val>
          <c:extLst>
            <c:ext xmlns:c16="http://schemas.microsoft.com/office/drawing/2014/chart" uri="{C3380CC4-5D6E-409C-BE32-E72D297353CC}">
              <c16:uniqueId val="{00000001-A29E-41BA-8332-D3EBEEDEDBB6}"/>
            </c:ext>
          </c:extLst>
        </c:ser>
        <c:dLbls>
          <c:showLegendKey val="0"/>
          <c:showVal val="0"/>
          <c:showCatName val="0"/>
          <c:showSerName val="0"/>
          <c:showPercent val="0"/>
          <c:showBubbleSize val="0"/>
        </c:dLbls>
        <c:gapWidth val="150"/>
        <c:axId val="10"/>
        <c:axId val="100"/>
      </c:barChart>
      <c:catAx>
        <c:axId val="10"/>
        <c:scaling>
          <c:orientation val="minMax"/>
        </c:scaling>
        <c:delete val="0"/>
        <c:axPos val="b"/>
        <c:numFmt formatCode="General" sourceLinked="1"/>
        <c:majorTickMark val="out"/>
        <c:minorTickMark val="none"/>
        <c:tickLblPos val="nextTo"/>
        <c:crossAx val="100"/>
        <c:crosses val="autoZero"/>
        <c:auto val="1"/>
        <c:lblAlgn val="ctr"/>
        <c:lblOffset val="100"/>
        <c:noMultiLvlLbl val="1"/>
      </c:catAx>
      <c:valAx>
        <c:axId val="100"/>
        <c:scaling>
          <c:orientation val="minMax"/>
        </c:scaling>
        <c:delete val="0"/>
        <c:axPos val="l"/>
        <c:majorGridlines/>
        <c:numFmt formatCode="General" sourceLinked="1"/>
        <c:majorTickMark val="out"/>
        <c:minorTickMark val="none"/>
        <c:tickLblPos val="nextTo"/>
        <c:crossAx val="10"/>
        <c:crosses val="autoZero"/>
        <c:crossBetween val="between"/>
      </c:valAx>
      <c:dTable>
        <c:showHorzBorder val="1"/>
        <c:showVertBorder val="1"/>
        <c:showOutline val="1"/>
        <c:showKeys val="1"/>
      </c:dTable>
    </c:plotArea>
    <c:legend>
      <c:legendPos val="r"/>
      <c:overlay val="0"/>
    </c:legend>
    <c:plotVisOnly val="1"/>
    <c:dispBlanksAs val="gap"/>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image" Target="../media/image11.sv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chart" Target="../charts/chart1.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860459" y="3767966"/>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854978" y="3917527"/>
            <a:ext cx="1669021" cy="227435"/>
          </a:xfrm>
          <a:prstGeom prst="rect">
            <a:avLst/>
          </a:prstGeom>
        </p:spPr>
        <p:txBody>
          <a:bodyPr wrap="square"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Pooja Rohit Mandal</a:t>
            </a: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6"/>
          <a:srcRect l="26757" t="2453" r="27842" b="53701"/>
          <a:stretch>
            <a:fillRect/>
          </a:stretch>
        </p:blipFill>
        <p:spPr>
          <a:xfrm>
            <a:off x="436179" y="3770578"/>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3096762" y="3779089"/>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3106918" y="3917527"/>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poojaman776@gmail.com</a:t>
            </a: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6"/>
          <a:srcRect l="26859" t="52379" r="26874" b="2349"/>
          <a:stretch>
            <a:fillRect/>
          </a:stretch>
        </p:blipFill>
        <p:spPr>
          <a:xfrm>
            <a:off x="2650903" y="3796435"/>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860459" y="4337076"/>
            <a:ext cx="2272871" cy="389019"/>
            <a:chOff x="3139699" y="4295282"/>
            <a:chExt cx="2272871" cy="389019"/>
          </a:xfrm>
        </p:grpSpPr>
        <p:sp>
          <p:nvSpPr>
            <p:cNvPr id="67" name="TextBox 41">
              <a:extLst>
                <a:ext uri="{FF2B5EF4-FFF2-40B4-BE49-F238E27FC236}">
                  <a16:creationId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139699" y="4456866"/>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Ms. </a:t>
              </a:r>
              <a:r>
                <a:rPr lang="en-US" sz="1200" b="1" dirty="0" err="1">
                  <a:solidFill>
                    <a:srgbClr val="0D358D"/>
                  </a:solidFill>
                  <a:latin typeface="Arial" panose="020B0604020202020204" pitchFamily="34" charset="0"/>
                  <a:ea typeface="Aileron Bold"/>
                  <a:cs typeface="Arial" panose="020B0604020202020204" pitchFamily="34" charset="0"/>
                  <a:sym typeface="Aileron Bold"/>
                </a:rPr>
                <a:t>Umamaheshwari</a:t>
              </a:r>
              <a:r>
                <a:rPr lang="en-US" sz="1200" b="1" dirty="0">
                  <a:solidFill>
                    <a:srgbClr val="0D358D"/>
                  </a:solidFill>
                  <a:latin typeface="Arial" panose="020B0604020202020204" pitchFamily="34" charset="0"/>
                  <a:ea typeface="Aileron Bold"/>
                  <a:cs typeface="Arial" panose="020B0604020202020204" pitchFamily="34" charset="0"/>
                  <a:sym typeface="Aileron Bold"/>
                </a:rPr>
                <a:t> </a:t>
              </a: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7"/>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8"/>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9"/>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10"/>
          <a:srcRect b="19729"/>
          <a:stretch>
            <a:fillRect/>
          </a:stretch>
        </p:blipFill>
        <p:spPr>
          <a:xfrm>
            <a:off x="173754" y="1046557"/>
            <a:ext cx="3854253" cy="1849530"/>
          </a:xfrm>
          <a:prstGeom prst="rect">
            <a:avLst/>
          </a:prstGeom>
        </p:spPr>
      </p:pic>
      <p:sp>
        <p:nvSpPr>
          <p:cNvPr id="27" name="TextBox 26">
            <a:extLst>
              <a:ext uri="{FF2B5EF4-FFF2-40B4-BE49-F238E27FC236}">
                <a16:creationId xmlns:a16="http://schemas.microsoft.com/office/drawing/2014/main" id="{2F24B206-F524-09D6-4AF4-42F990AA790E}"/>
              </a:ext>
            </a:extLst>
          </p:cNvPr>
          <p:cNvSpPr txBox="1"/>
          <p:nvPr/>
        </p:nvSpPr>
        <p:spPr>
          <a:xfrm>
            <a:off x="-159499" y="3386754"/>
            <a:ext cx="5330671" cy="318998"/>
          </a:xfrm>
          <a:prstGeom prst="rect">
            <a:avLst/>
          </a:prstGeom>
          <a:noFill/>
        </p:spPr>
        <p:txBody>
          <a:bodyPr wrap="square" rtlCol="0">
            <a:spAutoFit/>
          </a:bodyPr>
          <a:lstStyle/>
          <a:p>
            <a:pPr algn="ctr">
              <a:lnSpc>
                <a:spcPct val="115000"/>
              </a:lnSpc>
              <a:spcBef>
                <a:spcPts val="400"/>
              </a:spcBef>
              <a:spcAft>
                <a:spcPts val="400"/>
              </a:spcAft>
            </a:pPr>
            <a:r>
              <a:rPr lang="en-US" sz="1400" b="1">
                <a:solidFill>
                  <a:srgbClr val="1B3A8A"/>
                </a:solidFill>
                <a:latin typeface="Cambria" panose="02040503050406030204" pitchFamily="18" charset="0"/>
                <a:ea typeface="MS Mincho" panose="02020609040205080304" pitchFamily="49" charset="-128"/>
                <a:cs typeface="Times New Roman" panose="02020603050405020304" pitchFamily="18" charset="0"/>
              </a:rPr>
              <a:t>Smart Payroll Analytics and Financial Optimization</a:t>
            </a:r>
            <a:endParaRPr lang="en-IN" sz="800">
              <a:latin typeface="Cambria" panose="02040503050406030204" pitchFamily="18" charset="0"/>
              <a:ea typeface="MS Mincho" panose="02020609040205080304" pitchFamily="49" charset="-128"/>
              <a:cs typeface="Times New Roman" panose="02020603050405020304" pitchFamily="18" charset="0"/>
            </a:endParaRPr>
          </a:p>
        </p:txBody>
      </p:sp>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83095" y="1046432"/>
            <a:ext cx="6032122" cy="3693319"/>
          </a:xfrm>
          <a:prstGeom prst="rect">
            <a:avLst/>
          </a:prstGeom>
          <a:noFill/>
        </p:spPr>
        <p:txBody>
          <a:bodyPr wrap="square">
            <a:spAutoFit/>
          </a:bodyPr>
          <a:lstStyle/>
          <a:p>
            <a:pPr>
              <a:spcAft>
                <a:spcPts val="800"/>
              </a:spcAft>
              <a:tabLst>
                <a:tab pos="4229100" algn="ctr"/>
              </a:tabLst>
            </a:pPr>
            <a:r>
              <a:rPr lang="en-US" dirty="0">
                <a:latin typeface="Lato" panose="020F0502020204030203" pitchFamily="34" charset="0"/>
                <a:ea typeface="Lato" panose="020F0502020204030203" pitchFamily="34" charset="0"/>
                <a:cs typeface="Lato" panose="020F0502020204030203" pitchFamily="34" charset="0"/>
              </a:rPr>
              <a:t>This project focuses on transforming employee payroll data by converting traditional payroll systems into a more efficient, accurate, and automated digital process. The objective is to streamline payroll operations, reduce manual errors, and ensure compliance with financial regulations while improving transparency and reliability. The project uses tools such as Microsoft Excel for data management and SQL for database handling and integration. The expected outcomes include faster payroll processing, improved data accuracy, reduced workload, and better accessibility of payroll information. A key highlight of this project is the integration and automation of payroll data into a centralized system.</a:t>
            </a:r>
            <a:endParaRPr lang="en-GB" dirty="0">
              <a:latin typeface="Lato" panose="020F0502020204030203" pitchFamily="34" charset="0"/>
              <a:ea typeface="Lato" panose="020F0502020204030203" pitchFamily="34" charset="0"/>
              <a:cs typeface="Lato" panose="020F0502020204030203" pitchFamily="34" charset="0"/>
            </a:endParaRPr>
          </a:p>
        </p:txBody>
      </p:sp>
      <p:sp>
        <p:nvSpPr>
          <p:cNvPr id="2" name="Freeform 28">
            <a:extLst>
              <a:ext uri="{FF2B5EF4-FFF2-40B4-BE49-F238E27FC236}">
                <a16:creationId xmlns:a16="http://schemas.microsoft.com/office/drawing/2014/main" id="{AA7F05EE-340D-A58A-BAD0-FB0660B2D339}"/>
              </a:ext>
            </a:extLst>
          </p:cNvPr>
          <p:cNvSpPr/>
          <p:nvPr/>
        </p:nvSpPr>
        <p:spPr>
          <a:xfrm>
            <a:off x="6115217" y="1210123"/>
            <a:ext cx="2823043" cy="2977898"/>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4998720" y="873760"/>
            <a:ext cx="4020040" cy="3947240"/>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6" name="TextBox 5">
            <a:extLst>
              <a:ext uri="{FF2B5EF4-FFF2-40B4-BE49-F238E27FC236}">
                <a16:creationId xmlns:a16="http://schemas.microsoft.com/office/drawing/2014/main" id="{EE76AC24-5CB7-D860-6A01-E6D8ABD38610}"/>
              </a:ext>
            </a:extLst>
          </p:cNvPr>
          <p:cNvSpPr txBox="1"/>
          <p:nvPr/>
        </p:nvSpPr>
        <p:spPr>
          <a:xfrm>
            <a:off x="125240" y="1082801"/>
            <a:ext cx="4964920" cy="3652282"/>
          </a:xfrm>
          <a:prstGeom prst="rect">
            <a:avLst/>
          </a:prstGeom>
          <a:noFill/>
        </p:spPr>
        <p:txBody>
          <a:bodyPr wrap="square">
            <a:spAutoFit/>
          </a:bodyPr>
          <a:lstStyle/>
          <a:p>
            <a:pPr algn="just">
              <a:spcAft>
                <a:spcPts val="800"/>
              </a:spcAft>
              <a:tabLst>
                <a:tab pos="4229100" algn="ctr"/>
              </a:tabLst>
            </a:pPr>
            <a:r>
              <a:rPr lang="en-GB" b="1" dirty="0">
                <a:solidFill>
                  <a:schemeClr val="accent1">
                    <a:lumMod val="50000"/>
                  </a:schemeClr>
                </a:solidFill>
                <a:latin typeface="Lato" panose="020F0502020204030203" pitchFamily="34" charset="0"/>
                <a:ea typeface="+mn-lt"/>
                <a:cs typeface="Arial" panose="020B0604020202020204" pitchFamily="34" charset="0"/>
              </a:rPr>
              <a:t>Business related problems</a:t>
            </a:r>
          </a:p>
          <a:p>
            <a:pPr marL="285750" indent="-285750">
              <a:spcAft>
                <a:spcPts val="800"/>
              </a:spcAft>
              <a:buFont typeface="Arial" panose="020B0604020202020204" pitchFamily="34" charset="0"/>
              <a:buChar char="•"/>
              <a:tabLst>
                <a:tab pos="4229100" algn="ctr"/>
              </a:tabLst>
            </a:pPr>
            <a:r>
              <a:rPr lang="en-US" dirty="0">
                <a:latin typeface="Lato" panose="020F0502020204030203" pitchFamily="34" charset="0"/>
                <a:ea typeface="+mn-lt"/>
                <a:cs typeface="Arial" panose="020B0604020202020204" pitchFamily="34" charset="0"/>
              </a:rPr>
              <a:t>Unoptimized Payroll Workflow with Low Data Accuracy </a:t>
            </a:r>
            <a:r>
              <a:rPr lang="en-GB" dirty="0">
                <a:latin typeface="Lato" panose="020F0502020204030203" pitchFamily="34" charset="0"/>
                <a:ea typeface="+mn-lt"/>
                <a:cs typeface="Arial" panose="020B0604020202020204" pitchFamily="34" charset="0"/>
              </a:rPr>
              <a:t> </a:t>
            </a:r>
          </a:p>
          <a:p>
            <a:pPr marL="285750" indent="-285750">
              <a:spcAft>
                <a:spcPts val="800"/>
              </a:spcAft>
              <a:buFont typeface="Arial" panose="020B0604020202020204" pitchFamily="34" charset="0"/>
              <a:buChar char="•"/>
              <a:tabLst>
                <a:tab pos="4229100" algn="ctr"/>
              </a:tabLst>
            </a:pPr>
            <a:r>
              <a:rPr lang="en-US" dirty="0">
                <a:latin typeface="Lato" panose="020F0502020204030203" pitchFamily="34" charset="0"/>
                <a:ea typeface="+mn-lt"/>
                <a:cs typeface="Arial" panose="020B0604020202020204" pitchFamily="34" charset="0"/>
              </a:rPr>
              <a:t>Inaccurate Payroll Processing with Poor Data Integrity</a:t>
            </a:r>
            <a:endParaRPr lang="en-GB" dirty="0">
              <a:latin typeface="Lato" panose="020F0502020204030203" pitchFamily="34" charset="0"/>
              <a:ea typeface="+mn-lt"/>
              <a:cs typeface="Arial" panose="020B0604020202020204" pitchFamily="34" charset="0"/>
            </a:endParaRPr>
          </a:p>
          <a:p>
            <a:pPr marL="285750" indent="-285750">
              <a:spcAft>
                <a:spcPts val="800"/>
              </a:spcAft>
              <a:buFont typeface="Arial" panose="020B0604020202020204" pitchFamily="34" charset="0"/>
              <a:buChar char="•"/>
              <a:tabLst>
                <a:tab pos="4229100" algn="ctr"/>
              </a:tabLst>
            </a:pPr>
            <a:r>
              <a:rPr lang="en-US" dirty="0">
                <a:latin typeface="Lato" panose="020F0502020204030203" pitchFamily="34" charset="0"/>
                <a:ea typeface="+mn-lt"/>
                <a:cs typeface="Arial" panose="020B0604020202020204" pitchFamily="34" charset="0"/>
              </a:rPr>
              <a:t>Fragmented Payroll Data with Poor System Integration</a:t>
            </a:r>
          </a:p>
          <a:p>
            <a:pPr marL="285750" indent="-285750">
              <a:spcAft>
                <a:spcPts val="800"/>
              </a:spcAft>
              <a:buFont typeface="Arial" panose="020B0604020202020204" pitchFamily="34" charset="0"/>
              <a:buChar char="•"/>
              <a:tabLst>
                <a:tab pos="4229100" algn="ctr"/>
              </a:tabLst>
            </a:pPr>
            <a:r>
              <a:rPr lang="en-US" dirty="0">
                <a:latin typeface="Lato" panose="020F0502020204030203" pitchFamily="34" charset="0"/>
                <a:ea typeface="+mn-lt"/>
                <a:cs typeface="Arial" panose="020B0604020202020204" pitchFamily="34" charset="0"/>
              </a:rPr>
              <a:t>Poorly Managed Payroll System with Security Risks</a:t>
            </a:r>
          </a:p>
          <a:p>
            <a:pPr marL="285750" indent="-285750">
              <a:spcAft>
                <a:spcPts val="800"/>
              </a:spcAft>
              <a:buFont typeface="Arial" panose="020B0604020202020204" pitchFamily="34" charset="0"/>
              <a:buChar char="•"/>
              <a:tabLst>
                <a:tab pos="4229100" algn="ctr"/>
              </a:tabLst>
            </a:pPr>
            <a:r>
              <a:rPr lang="en-US" dirty="0">
                <a:latin typeface="Lato" panose="020F0502020204030203" pitchFamily="34" charset="0"/>
                <a:ea typeface="+mn-lt"/>
                <a:cs typeface="Arial" panose="020B0604020202020204" pitchFamily="34" charset="0"/>
              </a:rPr>
              <a:t>Unreliable Payroll Processing with Compliance Risks</a:t>
            </a:r>
            <a:endParaRPr lang="en-GB" dirty="0">
              <a:latin typeface="Lato" panose="020F0502020204030203" pitchFamily="34" charset="0"/>
              <a:ea typeface="+mn-lt"/>
              <a:cs typeface="Arial" panose="020B0604020202020204" pitchFamily="34" charset="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4240286" y="725532"/>
            <a:ext cx="4903714" cy="4203183"/>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046012"/>
            <a:ext cx="4606534" cy="3739347"/>
          </a:xfrm>
          <a:prstGeom prst="rect">
            <a:avLst/>
          </a:prstGeom>
          <a:noFill/>
          <a:ln/>
        </p:spPr>
        <p:txBody>
          <a:bodyPr wrap="square" rtlCol="0" anchor="t"/>
          <a:lstStyle/>
          <a:p>
            <a:r>
              <a:rPr lang="en-US" b="1" dirty="0">
                <a:solidFill>
                  <a:srgbClr val="002060"/>
                </a:solidFill>
                <a:latin typeface="Lato" panose="020F0502020204030203" pitchFamily="34" charset="0"/>
                <a:cs typeface="Arial" panose="020B0604020202020204" pitchFamily="34" charset="0"/>
              </a:rPr>
              <a:t>This project uses Excel and Power BI to solve inventory and fulfillment issues.</a:t>
            </a:r>
          </a:p>
          <a:p>
            <a:endParaRPr lang="en-US" b="1" dirty="0">
              <a:solidFill>
                <a:srgbClr val="002060"/>
              </a:solidFill>
              <a:latin typeface="Lato" panose="020F0502020204030203" pitchFamily="34" charset="0"/>
              <a:cs typeface="Arial" panose="020B0604020202020204" pitchFamily="34" charset="0"/>
            </a:endParaRPr>
          </a:p>
          <a:p>
            <a:pPr marL="285750" indent="-285750">
              <a:buFont typeface="Arial" panose="020B0604020202020204" pitchFamily="34" charset="0"/>
              <a:buChar char="•"/>
            </a:pPr>
            <a:r>
              <a:rPr lang="en-US" dirty="0">
                <a:latin typeface="Lato" panose="020F0502020204030203" pitchFamily="34" charset="0"/>
                <a:cs typeface="Arial" panose="020B0604020202020204" pitchFamily="34" charset="0"/>
              </a:rPr>
              <a:t>Compliance Tracking with Predefined Rules and Reports</a:t>
            </a:r>
          </a:p>
          <a:p>
            <a:pPr marL="285750" indent="-285750">
              <a:buFont typeface="Arial" panose="020B0604020202020204" pitchFamily="34" charset="0"/>
              <a:buChar char="•"/>
            </a:pPr>
            <a:r>
              <a:rPr lang="en-US" dirty="0">
                <a:latin typeface="Lato" panose="020F0502020204030203" pitchFamily="34" charset="0"/>
                <a:cs typeface="Arial" panose="020B0604020202020204" pitchFamily="34" charset="0"/>
              </a:rPr>
              <a:t>Scalable Reporting using Power BI Data Models</a:t>
            </a:r>
          </a:p>
          <a:p>
            <a:pPr marL="285750" indent="-285750">
              <a:buFont typeface="Arial" panose="020B0604020202020204" pitchFamily="34" charset="0"/>
              <a:buChar char="•"/>
            </a:pPr>
            <a:r>
              <a:rPr lang="en-US" dirty="0">
                <a:latin typeface="Lato" panose="020F0502020204030203" pitchFamily="34" charset="0"/>
                <a:cs typeface="Arial" panose="020B0604020202020204" pitchFamily="34" charset="0"/>
              </a:rPr>
              <a:t>Workflow Optimization through Process Automation</a:t>
            </a:r>
          </a:p>
          <a:p>
            <a:pPr marL="285750" indent="-285750">
              <a:buFont typeface="Arial" panose="020B0604020202020204" pitchFamily="34" charset="0"/>
              <a:buChar char="•"/>
            </a:pPr>
            <a:r>
              <a:rPr lang="en-US" dirty="0">
                <a:latin typeface="Lato" panose="020F0502020204030203" pitchFamily="34" charset="0"/>
                <a:cs typeface="Arial" panose="020B0604020202020204" pitchFamily="34" charset="0"/>
              </a:rPr>
              <a:t>Role-Based Access Control and Data Security Measures</a:t>
            </a:r>
          </a:p>
          <a:p>
            <a:pPr marL="285750" indent="-285750">
              <a:buFont typeface="Arial" panose="020B0604020202020204" pitchFamily="34" charset="0"/>
              <a:buChar char="•"/>
            </a:pPr>
            <a:r>
              <a:rPr lang="en-US" dirty="0">
                <a:latin typeface="Lato" panose="020F0502020204030203" pitchFamily="34" charset="0"/>
                <a:cs typeface="Arial" panose="020B0604020202020204" pitchFamily="34" charset="0"/>
              </a:rPr>
              <a:t>Improved Data Integrity with Single Source of Truth</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326848" y="1700400"/>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0" name="Shape 8"/>
          <p:cNvSpPr/>
          <p:nvPr/>
        </p:nvSpPr>
        <p:spPr>
          <a:xfrm>
            <a:off x="4918304" y="1245574"/>
            <a:ext cx="4114800" cy="384048"/>
          </a:xfrm>
          <a:prstGeom prst="rect">
            <a:avLst/>
          </a:prstGeom>
          <a:solidFill>
            <a:schemeClr val="accent1">
              <a:lumMod val="20000"/>
              <a:lumOff val="80000"/>
            </a:schemeClr>
          </a:solidFill>
          <a:ln/>
        </p:spPr>
        <p:txBody>
          <a:bodyPr/>
          <a:lstStyle/>
          <a:p>
            <a:endParaRPr lang="en-IN" sz="1600" dirty="0">
              <a:latin typeface="Lato" panose="020F0502020204030203" pitchFamily="34" charset="0"/>
              <a:cs typeface="Arial" panose="020B0604020202020204" pitchFamily="34" charset="0"/>
            </a:endParaRPr>
          </a:p>
        </p:txBody>
      </p:sp>
      <p:sp>
        <p:nvSpPr>
          <p:cNvPr id="11" name="Shape 9"/>
          <p:cNvSpPr/>
          <p:nvPr/>
        </p:nvSpPr>
        <p:spPr>
          <a:xfrm>
            <a:off x="8713064" y="1252054"/>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953000" y="127190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4" name="Shape 12"/>
          <p:cNvSpPr/>
          <p:nvPr/>
        </p:nvSpPr>
        <p:spPr>
          <a:xfrm>
            <a:off x="307391" y="3290033"/>
            <a:ext cx="4114800" cy="384048"/>
          </a:xfrm>
          <a:prstGeom prst="rect">
            <a:avLst/>
          </a:prstGeom>
          <a:solidFill>
            <a:schemeClr val="accent1">
              <a:lumMod val="20000"/>
              <a:lumOff val="80000"/>
            </a:schemeClr>
          </a:solidFill>
          <a:ln/>
        </p:spPr>
        <p:txBody>
          <a:bodyPr/>
          <a:lstStyle/>
          <a:p>
            <a:endParaRPr lang="en-IN" dirty="0">
              <a:latin typeface="Lato" panose="020F0502020204030203" pitchFamily="34" charset="0"/>
            </a:endParaRPr>
          </a:p>
        </p:txBody>
      </p:sp>
      <p:sp>
        <p:nvSpPr>
          <p:cNvPr id="15" name="Shape 13"/>
          <p:cNvSpPr/>
          <p:nvPr/>
        </p:nvSpPr>
        <p:spPr>
          <a:xfrm>
            <a:off x="4158896" y="3290033"/>
            <a:ext cx="320040" cy="384048"/>
          </a:xfrm>
          <a:prstGeom prst="rect">
            <a:avLst/>
          </a:prstGeom>
          <a:solidFill>
            <a:srgbClr val="1B3A8A"/>
          </a:solidFill>
          <a:ln/>
        </p:spPr>
        <p:txBody>
          <a:bodyPr/>
          <a:lstStyle/>
          <a:p>
            <a:endParaRPr lang="en-IN" dirty="0">
              <a:latin typeface="Lato" panose="020F0502020204030203" pitchFamily="34" charset="0"/>
            </a:endParaRPr>
          </a:p>
        </p:txBody>
      </p:sp>
      <p:sp>
        <p:nvSpPr>
          <p:cNvPr id="16" name="Text 14"/>
          <p:cNvSpPr/>
          <p:nvPr/>
        </p:nvSpPr>
        <p:spPr>
          <a:xfrm>
            <a:off x="404670" y="3317264"/>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3427056"/>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8" name="Shape 16"/>
          <p:cNvSpPr/>
          <p:nvPr/>
        </p:nvSpPr>
        <p:spPr>
          <a:xfrm>
            <a:off x="4922701" y="3317264"/>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730898" y="3317328"/>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976672" y="3371941"/>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2" name="TextBox 1">
            <a:extLst>
              <a:ext uri="{FF2B5EF4-FFF2-40B4-BE49-F238E27FC236}">
                <a16:creationId xmlns:a16="http://schemas.microsoft.com/office/drawing/2014/main" id="{A9DC3474-D38A-683B-92A6-98E832B20C65}"/>
              </a:ext>
            </a:extLst>
          </p:cNvPr>
          <p:cNvSpPr txBox="1"/>
          <p:nvPr/>
        </p:nvSpPr>
        <p:spPr>
          <a:xfrm>
            <a:off x="151587" y="1687426"/>
            <a:ext cx="4251960" cy="1569660"/>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Employee Payroll dataset from Kaggle / Excel</a:t>
            </a:r>
          </a:p>
          <a:p>
            <a:pPr marL="285750" indent="-285750">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Contains employee details, department, salary components (Basic Pay, Allowances, Deductions), attendance, tax, and net salary</a:t>
            </a:r>
          </a:p>
        </p:txBody>
      </p:sp>
      <p:sp>
        <p:nvSpPr>
          <p:cNvPr id="23" name="TextBox 22">
            <a:extLst>
              <a:ext uri="{FF2B5EF4-FFF2-40B4-BE49-F238E27FC236}">
                <a16:creationId xmlns:a16="http://schemas.microsoft.com/office/drawing/2014/main" id="{BAA55FC7-C0E9-32BE-2480-7CDE67341BE1}"/>
              </a:ext>
            </a:extLst>
          </p:cNvPr>
          <p:cNvSpPr txBox="1"/>
          <p:nvPr/>
        </p:nvSpPr>
        <p:spPr>
          <a:xfrm>
            <a:off x="171855" y="3783873"/>
            <a:ext cx="4211424" cy="1323439"/>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Power BI for visualization and dashboard creation</a:t>
            </a:r>
          </a:p>
          <a:p>
            <a:pPr marL="285750" indent="-285750">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AI tools (ChatGPT / Copilot) for insights, report generation, and interpretation </a:t>
            </a:r>
          </a:p>
          <a:p>
            <a:pPr marL="285750" indent="-285750">
              <a:buFont typeface="Arial" panose="020B0604020202020204" pitchFamily="34" charset="0"/>
              <a:buChar char="•"/>
            </a:pPr>
            <a:endParaRPr lang="en-US" sz="1600" dirty="0">
              <a:latin typeface="Lato" panose="020F0502020204030203" pitchFamily="34" charset="0"/>
              <a:ea typeface="Lato" panose="020F0502020204030203" pitchFamily="34" charset="0"/>
              <a:cs typeface="Lato" panose="020F0502020204030203" pitchFamily="34" charset="0"/>
            </a:endParaRPr>
          </a:p>
        </p:txBody>
      </p:sp>
      <p:sp>
        <p:nvSpPr>
          <p:cNvPr id="24" name="TextBox 23">
            <a:extLst>
              <a:ext uri="{FF2B5EF4-FFF2-40B4-BE49-F238E27FC236}">
                <a16:creationId xmlns:a16="http://schemas.microsoft.com/office/drawing/2014/main" id="{87FBEC32-1447-55B8-5933-6CD285F288C0}"/>
              </a:ext>
            </a:extLst>
          </p:cNvPr>
          <p:cNvSpPr txBox="1"/>
          <p:nvPr/>
        </p:nvSpPr>
        <p:spPr>
          <a:xfrm>
            <a:off x="4622907" y="1834649"/>
            <a:ext cx="4428031" cy="1323439"/>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Data cleaning and preprocessing using Excel</a:t>
            </a:r>
          </a:p>
          <a:p>
            <a:pPr marL="285750" indent="-285750">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 Payroll calculations using formulas (Net Salary, Tax, Deductions)</a:t>
            </a:r>
          </a:p>
          <a:p>
            <a:pPr marL="285750" indent="-285750">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KPI calculation using Power BI (Total Salary, Average Salary, Department-wise Expenses)</a:t>
            </a:r>
          </a:p>
        </p:txBody>
      </p:sp>
      <p:sp>
        <p:nvSpPr>
          <p:cNvPr id="27" name="TextBox 26">
            <a:extLst>
              <a:ext uri="{FF2B5EF4-FFF2-40B4-BE49-F238E27FC236}">
                <a16:creationId xmlns:a16="http://schemas.microsoft.com/office/drawing/2014/main" id="{A8F0715D-F9E9-459D-1079-88D74F73B853}"/>
              </a:ext>
            </a:extLst>
          </p:cNvPr>
          <p:cNvSpPr txBox="1"/>
          <p:nvPr/>
        </p:nvSpPr>
        <p:spPr>
          <a:xfrm>
            <a:off x="4670248" y="3701312"/>
            <a:ext cx="4210458" cy="1569660"/>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Interactive Power BI dashboard with KPI cards and visualizations </a:t>
            </a:r>
          </a:p>
          <a:p>
            <a:pPr marL="285750" indent="-285750">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Provides insights on salary distribution, payroll expenses, deductions, and department-wise analysis </a:t>
            </a:r>
          </a:p>
          <a:p>
            <a:pPr marL="285750" indent="-285750">
              <a:buFont typeface="Arial" panose="020B0604020202020204" pitchFamily="34" charset="0"/>
              <a:buChar char="•"/>
            </a:pPr>
            <a:endParaRPr lang="en-US" sz="1600" dirty="0">
              <a:latin typeface="Lato" panose="020F0502020204030203" pitchFamily="34" charset="0"/>
              <a:ea typeface="Lato" panose="020F0502020204030203" pitchFamily="34" charset="0"/>
              <a:cs typeface="Lato" panose="020F0502020204030203" pitchFamily="34"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 </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74320" y="2196877"/>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0" name="Text 8"/>
          <p:cNvSpPr/>
          <p:nvPr/>
        </p:nvSpPr>
        <p:spPr>
          <a:xfrm>
            <a:off x="274320"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1</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18688" y="2196877"/>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200479"/>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20" name="Text 18"/>
          <p:cNvSpPr/>
          <p:nvPr/>
        </p:nvSpPr>
        <p:spPr>
          <a:xfrm>
            <a:off x="6163056"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pic>
        <p:nvPicPr>
          <p:cNvPr id="25" name="Picture 24">
            <a:extLst>
              <a:ext uri="{FF2B5EF4-FFF2-40B4-BE49-F238E27FC236}">
                <a16:creationId xmlns:a16="http://schemas.microsoft.com/office/drawing/2014/main" id="{6AB0C90D-4FCE-FF1B-40A2-2AE60B1D950D}"/>
              </a:ext>
            </a:extLst>
          </p:cNvPr>
          <p:cNvPicPr>
            <a:picLocks noChangeAspect="1"/>
          </p:cNvPicPr>
          <p:nvPr/>
        </p:nvPicPr>
        <p:blipFill>
          <a:blip r:embed="rId4"/>
          <a:stretch>
            <a:fillRect/>
          </a:stretch>
        </p:blipFill>
        <p:spPr>
          <a:xfrm>
            <a:off x="6163056" y="2200479"/>
            <a:ext cx="2788920" cy="2644749"/>
          </a:xfrm>
          <a:prstGeom prst="rect">
            <a:avLst/>
          </a:prstGeom>
        </p:spPr>
      </p:pic>
      <p:pic>
        <p:nvPicPr>
          <p:cNvPr id="22" name="Picture 21">
            <a:extLst>
              <a:ext uri="{FF2B5EF4-FFF2-40B4-BE49-F238E27FC236}">
                <a16:creationId xmlns:a16="http://schemas.microsoft.com/office/drawing/2014/main" id="{D7F83DAD-47D7-4B76-A528-975A14A712E1}"/>
              </a:ext>
            </a:extLst>
          </p:cNvPr>
          <p:cNvPicPr/>
          <p:nvPr/>
        </p:nvPicPr>
        <p:blipFill>
          <a:blip r:embed="rId5"/>
          <a:stretch>
            <a:fillRect/>
          </a:stretch>
        </p:blipFill>
        <p:spPr>
          <a:xfrm>
            <a:off x="222028" y="2200479"/>
            <a:ext cx="3004661" cy="2657617"/>
          </a:xfrm>
          <a:prstGeom prst="rect">
            <a:avLst/>
          </a:prstGeom>
        </p:spPr>
      </p:pic>
      <p:graphicFrame>
        <p:nvGraphicFramePr>
          <p:cNvPr id="24" name="Chart 23">
            <a:extLst>
              <a:ext uri="{FF2B5EF4-FFF2-40B4-BE49-F238E27FC236}">
                <a16:creationId xmlns:a16="http://schemas.microsoft.com/office/drawing/2014/main" id="{00000000-0008-0000-0000-000002000000}"/>
              </a:ext>
            </a:extLst>
          </p:cNvPr>
          <p:cNvGraphicFramePr/>
          <p:nvPr>
            <p:extLst>
              <p:ext uri="{D42A27DB-BD31-4B8C-83A1-F6EECF244321}">
                <p14:modId xmlns:p14="http://schemas.microsoft.com/office/powerpoint/2010/main" val="1433447148"/>
              </p:ext>
            </p:extLst>
          </p:nvPr>
        </p:nvGraphicFramePr>
        <p:xfrm>
          <a:off x="3244977" y="2200479"/>
          <a:ext cx="2899791" cy="2638892"/>
        </p:xfrm>
        <a:graphic>
          <a:graphicData uri="http://schemas.openxmlformats.org/drawingml/2006/chart">
            <c:chart xmlns:c="http://schemas.openxmlformats.org/drawingml/2006/chart" xmlns:r="http://schemas.openxmlformats.org/officeDocument/2006/relationships" r:id="rId6"/>
          </a:graphicData>
        </a:graphic>
      </p:graphicFrame>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33916" y="1050976"/>
            <a:ext cx="5421063" cy="3921413"/>
          </a:xfrm>
          <a:prstGeom prst="rect">
            <a:avLst/>
          </a:prstGeom>
          <a:noFill/>
          <a:ln/>
        </p:spPr>
        <p:txBody>
          <a:bodyPr wrap="square" rtlCol="0" anchor="t"/>
          <a:lstStyle/>
          <a:p>
            <a:r>
              <a:rPr lang="en-US" dirty="0">
                <a:latin typeface="Lato" panose="020F0502020204030203" pitchFamily="34" charset="0"/>
                <a:ea typeface="Lato" panose="020F0502020204030203" pitchFamily="34" charset="0"/>
                <a:cs typeface="Lato" panose="020F0502020204030203" pitchFamily="34" charset="0"/>
              </a:rPr>
              <a:t>This project successfully converted raw payroll data into structured and meaningful information using Excel and Power BI.</a:t>
            </a:r>
            <a:endParaRPr lang="en-GB" dirty="0">
              <a:latin typeface="Lato" panose="020F0502020204030203" pitchFamily="34" charset="0"/>
              <a:ea typeface="Lato" panose="020F0502020204030203" pitchFamily="34" charset="0"/>
              <a:cs typeface="Lato" panose="020F0502020204030203" pitchFamily="34" charset="0"/>
            </a:endParaRPr>
          </a:p>
          <a:p>
            <a:r>
              <a:rPr lang="en-GB" dirty="0">
                <a:latin typeface="Lato" panose="020F0502020204030203" pitchFamily="34" charset="0"/>
                <a:ea typeface="Lato" panose="020F0502020204030203" pitchFamily="34" charset="0"/>
                <a:cs typeface="Lato" panose="020F0502020204030203" pitchFamily="34" charset="0"/>
              </a:rPr>
              <a:t>Key achievements:</a:t>
            </a:r>
          </a:p>
          <a:p>
            <a:pPr marL="285750" indent="-285750">
              <a:buFont typeface="Arial" panose="020B0604020202020204" pitchFamily="34" charset="0"/>
              <a:buChar char="•"/>
            </a:pPr>
            <a:r>
              <a:rPr lang="en-GB" dirty="0">
                <a:latin typeface="Lato" panose="020F0502020204030203" pitchFamily="34" charset="0"/>
                <a:ea typeface="Lato" panose="020F0502020204030203" pitchFamily="34" charset="0"/>
                <a:cs typeface="Lato" panose="020F0502020204030203" pitchFamily="34" charset="0"/>
              </a:rPr>
              <a:t>Cleaned and organized employee payroll dataset</a:t>
            </a:r>
          </a:p>
          <a:p>
            <a:pPr marL="285750" indent="-285750">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Performed accurate payroll data analysis</a:t>
            </a:r>
            <a:endParaRPr lang="en-GB" dirty="0">
              <a:latin typeface="Lato" panose="020F0502020204030203" pitchFamily="34" charset="0"/>
              <a:ea typeface="Lato" panose="020F0502020204030203" pitchFamily="34" charset="0"/>
              <a:cs typeface="Lato" panose="020F0502020204030203" pitchFamily="34" charset="0"/>
            </a:endParaRPr>
          </a:p>
          <a:p>
            <a:pPr marL="285750" indent="-285750">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Created interactive dashboards for salary insights</a:t>
            </a:r>
            <a:endParaRPr lang="en-GB" dirty="0">
              <a:latin typeface="Lato" panose="020F0502020204030203" pitchFamily="34" charset="0"/>
              <a:ea typeface="Lato" panose="020F0502020204030203" pitchFamily="34" charset="0"/>
              <a:cs typeface="Lato" panose="020F0502020204030203" pitchFamily="34" charset="0"/>
            </a:endParaRPr>
          </a:p>
          <a:p>
            <a:pPr marL="285750" indent="-285750">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Improved payroll processing and reporting efficiency</a:t>
            </a:r>
            <a:endParaRPr lang="en-GB" dirty="0">
              <a:latin typeface="Lato" panose="020F0502020204030203" pitchFamily="34" charset="0"/>
              <a:ea typeface="Lato" panose="020F0502020204030203" pitchFamily="34" charset="0"/>
              <a:cs typeface="Lato" panose="020F0502020204030203" pitchFamily="34" charset="0"/>
            </a:endParaRPr>
          </a:p>
          <a:p>
            <a:r>
              <a:rPr lang="en-US" dirty="0">
                <a:latin typeface="Lato" panose="020F0502020204030203" pitchFamily="34" charset="0"/>
                <a:ea typeface="Lato" panose="020F0502020204030203" pitchFamily="34" charset="0"/>
                <a:cs typeface="Lato" panose="020F0502020204030203" pitchFamily="34" charset="0"/>
              </a:rPr>
              <a:t>The project demonstrates how Excel and Power BI can be effectively used for payroll management, data analysis, and better decision-making in organizations.</a:t>
            </a: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5412627" y="1050976"/>
            <a:ext cx="3597456" cy="3309355"/>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114800" cy="3474720"/>
          </a:xfrm>
          <a:prstGeom prst="rect">
            <a:avLst/>
          </a:prstGeom>
          <a:noFill/>
          <a:ln/>
        </p:spPr>
        <p:txBody>
          <a:bodyPr wrap="square" rtlCol="0" anchor="t"/>
          <a:lstStyle/>
          <a:p>
            <a:pPr marL="285750" indent="-285750">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Integration with AI &amp; Machine Learning</a:t>
            </a:r>
          </a:p>
          <a:p>
            <a:pPr marL="285750" indent="-285750">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Cloud-Based Payroll Systems</a:t>
            </a:r>
          </a:p>
          <a:p>
            <a:pPr marL="285750" indent="-285750">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Advanced Data Analytics</a:t>
            </a:r>
          </a:p>
          <a:p>
            <a:pPr marL="285750" indent="-285750">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Blockchain for Secure Transactions</a:t>
            </a:r>
          </a:p>
          <a:p>
            <a:pPr marL="285750" indent="-285750">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Automation &amp; Self-Service Portals</a:t>
            </a:r>
          </a:p>
          <a:p>
            <a:pPr marL="285750" indent="-285750">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Compliance &amp; Global Payroll Management</a:t>
            </a: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712</TotalTime>
  <Words>539</Words>
  <Application>Microsoft Office PowerPoint</Application>
  <PresentationFormat>On-screen Show (16:9)</PresentationFormat>
  <Paragraphs>86</Paragraphs>
  <Slides>11</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MS Mincho</vt:lpstr>
      <vt:lpstr>Aileron</vt:lpstr>
      <vt:lpstr>Aileron Bold</vt:lpstr>
      <vt:lpstr>Aileron Ultra-Bold</vt:lpstr>
      <vt:lpstr>Arial</vt:lpstr>
      <vt:lpstr>Calibri</vt:lpstr>
      <vt:lpstr>Cambria</vt:lpstr>
      <vt:lpstr>Lato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admin</cp:lastModifiedBy>
  <cp:revision>56</cp:revision>
  <dcterms:created xsi:type="dcterms:W3CDTF">2026-02-18T09:17:23Z</dcterms:created>
  <dcterms:modified xsi:type="dcterms:W3CDTF">2026-05-07T17:48:21Z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